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8449"/>
    <a:srgbClr val="F47115"/>
    <a:srgbClr val="EAFFFF"/>
    <a:srgbClr val="FFFFCC"/>
    <a:srgbClr val="CECECE"/>
    <a:srgbClr val="040353"/>
    <a:srgbClr val="020859"/>
    <a:srgbClr val="CCFFFF"/>
    <a:srgbClr val="66FF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2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5CCA-A477-4F4C-9CA6-1EFB5DB55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ED227-D021-4169-AE88-16F4EB7EA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0A392-983F-4C5E-B520-8833458D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4112F-8E44-4C97-AFE6-8F88CF78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41C19-7D6C-488D-B6B3-3C85A591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4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C859-3DBA-4955-B51F-D14825512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B6C02-7090-4ED3-A7F5-B6E88626E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44A4C-F8FD-4934-A98D-C8FA2914E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D232-8417-4157-B011-7AAB1FA4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70388-5964-4B80-A9ED-274C3580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28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BC06-FEBC-40B1-8A5D-B2CE99F2C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E73A1-70B3-4CDF-A1F1-24A797B2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236F8-531A-405C-9F11-8FB56C5E1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5AA-F22D-4501-8333-4C0354CB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7DFD9-F505-4D12-8822-1C301520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C686-4307-495A-BB9B-676E2BF3D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48D2-0EF8-46D7-862F-8813AC21B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3D0F5-E823-4CDB-930D-CAE58CA1A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D1D5A-5476-44AF-8090-A9337459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81529-4D00-46C5-8375-49CD846B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D8831-F2B1-4DCB-8D24-2973A09B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4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98953-49CA-4E52-9911-514CD61D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8A8D-065D-4CD0-87DB-6E81FD24A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1AA42-50BC-4C8E-A5FE-C1CF05A01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815A9-7595-47C5-9DE4-DC12763E5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5A11B-43F5-4EC9-97CF-70C51DB80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8215C-EEF4-4E79-8678-1BFA1599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637A11-8AF7-4251-B2F9-7D691231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A0CE7-F0EB-4B1B-9B97-7DB6C542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2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5A0A0-79B9-4175-B8DC-A34C21F52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7F06D-3BDC-4508-93E7-9324B03BC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20431-9335-4867-8155-D0A9BC93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6DF22-BCD2-44CB-AD70-532910DC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8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E654DB-FC57-4811-B8A4-59F2D0C5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9EEE5-3555-4CF5-AF34-A8BED64C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6AB58-BD0A-47D8-AA98-85187452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1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E2C0-5F40-40FC-B253-7ABC9D61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DA39B-04D5-4839-BA5E-0542247F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E0825-D795-41BD-B801-39F9F3BC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41168-5727-4FB0-A9AE-B3ED89D8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D29D6-7753-461F-9C51-2229DEE2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3319E-FB48-4087-9D17-AF56DE13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D96F-4D62-4854-B9B9-CA560B51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0DDED-54FF-48EA-A4F3-9C856F4A2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3C075-84A0-4BB3-BFEB-28050163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DD2DC-E2BE-458B-AE4A-79D4FAE0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F5B99-BE5A-4B9E-BF77-FD5261D7E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AEA2C-685D-4465-AFA6-5959512E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1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74CF-BD0C-4B6A-B633-7B3A72B4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9E3F2-9A19-49A5-B4EC-F843FF2031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E692F-31E6-4B74-A5FF-1B655C59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837B-5E76-493C-8981-44F425B2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763E3-7C28-43C8-B8EE-0FC4E9C0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0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8B0F60-87FF-4B8F-9594-4D1FCC9F8C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A66B4-3AEE-44D3-8805-2BECCCE46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033F3-A29B-471B-A630-4E13295D3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7E92B-CE4D-4473-B804-82DAFE12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C3E1E-3F71-4E5A-9D17-CAE5A9D1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4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ECAB6F-AE58-450B-8155-3D80B2A1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CAA39-A210-432C-88D2-308D7DD1C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7E1B-2C8B-446F-A39F-81FE63AF7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5D473-280B-4319-A136-C7C4B767A82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366F-877E-43F9-BF38-F43A4D1D0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E1347-67FB-4CA5-8C3B-0FAF113C9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DB183-7435-4395-88AF-A1342F72B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1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svg"/><Relationship Id="rId18" Type="http://schemas.openxmlformats.org/officeDocument/2006/relationships/image" Target="../media/image15.svg"/><Relationship Id="rId3" Type="http://schemas.openxmlformats.org/officeDocument/2006/relationships/slideLayout" Target="../slideLayouts/slideLayout1.xml"/><Relationship Id="rId21" Type="http://schemas.openxmlformats.org/officeDocument/2006/relationships/image" Target="../media/image18.pn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video" Target="../media/media1.mp4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gif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6.svg"/><Relationship Id="rId14" Type="http://schemas.openxmlformats.org/officeDocument/2006/relationships/image" Target="../media/image11.png"/><Relationship Id="rId22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Video 11">
            <a:hlinkClick r:id="" action="ppaction://media"/>
            <a:extLst>
              <a:ext uri="{FF2B5EF4-FFF2-40B4-BE49-F238E27FC236}">
                <a16:creationId xmlns:a16="http://schemas.microsoft.com/office/drawing/2014/main" id="{8145D6E8-DF6F-49E7-8CBA-0CB2DFCDB9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40640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218D15-A4F7-47EE-B052-E4F95515B2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341" y="1070021"/>
            <a:ext cx="4695286" cy="264109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44F9DBB-9C22-44AB-947B-5FEA8DF31CA4}"/>
              </a:ext>
            </a:extLst>
          </p:cNvPr>
          <p:cNvGrpSpPr/>
          <p:nvPr/>
        </p:nvGrpSpPr>
        <p:grpSpPr>
          <a:xfrm>
            <a:off x="585494" y="1740324"/>
            <a:ext cx="8199134" cy="4301655"/>
            <a:chOff x="585494" y="1740324"/>
            <a:chExt cx="8199134" cy="430165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C2C466-17EB-4BCD-BC0E-39F21237E9C1}"/>
                </a:ext>
              </a:extLst>
            </p:cNvPr>
            <p:cNvSpPr txBox="1"/>
            <p:nvPr/>
          </p:nvSpPr>
          <p:spPr>
            <a:xfrm>
              <a:off x="585494" y="1740324"/>
              <a:ext cx="8060352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Được thành lập ngày 04/05/2013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với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GPKD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số 0312260211 do 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ở 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ế hoạch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&amp;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Đầu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tư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TP. 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Hồ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Chí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Minh 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cấp, Công ty TNHH Cơ 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hí Xây 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ựng Song Ngọc khởi nghiệp với tâm huyết mang đến các giải pháp xây dựng chất lượng, đáng tin cậy cho thị trường Việt Nam.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A6E51B-C1F9-43D7-A7C3-C868228B69D4}"/>
                </a:ext>
              </a:extLst>
            </p:cNvPr>
            <p:cNvSpPr txBox="1"/>
            <p:nvPr/>
          </p:nvSpPr>
          <p:spPr>
            <a:xfrm>
              <a:off x="585494" y="2912599"/>
              <a:ext cx="806035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Từ những dự án đầu tiên trong lĩnh vực xây dựng dân dụng, Song Ngọc nhanh chóng mở rộng năng lực sang các lĩnh vực đòi hỏi kỹ thuật cao hơn: thi công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nhà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công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nghiệp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hạ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tầng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công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nghiệp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và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công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trình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chống ăn mòn trên biển.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F4AD048-656A-40A5-A2E6-8B85352DA757}"/>
                </a:ext>
              </a:extLst>
            </p:cNvPr>
            <p:cNvSpPr txBox="1"/>
            <p:nvPr/>
          </p:nvSpPr>
          <p:spPr>
            <a:xfrm>
              <a:off x="585494" y="4084874"/>
              <a:ext cx="806035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Hiện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nay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với đội ngũ hơn 3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 kỹ sư và công nhân lành nghề cùng hệ thống máy móc thiết bị hiện đại, Song Ngọc là một trong những nhà thầu xây dựng uy tín hàng đầu 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ở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Việt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Nam, với danh mục hơn 200 dự án đã hoàn thành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với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khách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hàng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và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vi-VN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đối tác trong và ngoài nước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.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A90CDE9-3505-4342-9589-27F1AAE17FDD}"/>
                </a:ext>
              </a:extLst>
            </p:cNvPr>
            <p:cNvSpPr txBox="1"/>
            <p:nvPr/>
          </p:nvSpPr>
          <p:spPr>
            <a:xfrm>
              <a:off x="585494" y="5257149"/>
              <a:ext cx="8199134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Để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đạt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được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thành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quả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đó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Song Ngọc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đã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không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ngừng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nâng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cao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chuyên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môn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đầu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tư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trang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thiết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bị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phương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tiện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kỹ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thuật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hiện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đại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và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liên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tục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cải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tiến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quy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trình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quản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lý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dự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án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.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Chúng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tôi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tuân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thủ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quy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trình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chất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lượng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ISO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nghiêm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ngặt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và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đảm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bảo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sự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an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toàn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công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việc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cho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mọi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dự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500" dirty="0" err="1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án</a:t>
              </a:r>
              <a:r>
                <a:rPr lang="en-US" sz="150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.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540866A-CBA0-48E4-A7EC-24E121F1E388}"/>
              </a:ext>
            </a:extLst>
          </p:cNvPr>
          <p:cNvSpPr txBox="1"/>
          <p:nvPr/>
        </p:nvSpPr>
        <p:spPr>
          <a:xfrm>
            <a:off x="0" y="623584"/>
            <a:ext cx="1219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3300" b="1" dirty="0">
                <a:solidFill>
                  <a:srgbClr val="F4711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CÔNG TY TNHH CƠ </a:t>
            </a:r>
            <a:r>
              <a:rPr lang="en-US" sz="3300" b="1" dirty="0">
                <a:solidFill>
                  <a:srgbClr val="F4711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</a:t>
            </a:r>
            <a:r>
              <a:rPr lang="vi-VN" sz="3300" b="1" dirty="0">
                <a:solidFill>
                  <a:srgbClr val="F4711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HÍ XÂY </a:t>
            </a:r>
            <a:r>
              <a:rPr lang="en-US" sz="3300" b="1" dirty="0">
                <a:solidFill>
                  <a:srgbClr val="F4711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</a:t>
            </a:r>
            <a:r>
              <a:rPr lang="vi-VN" sz="3300" b="1" dirty="0">
                <a:solidFill>
                  <a:srgbClr val="F4711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ỰNG SONG NGỌC</a:t>
            </a:r>
            <a:r>
              <a:rPr lang="en-US" sz="3300" b="1" dirty="0">
                <a:solidFill>
                  <a:srgbClr val="F4711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(</a:t>
            </a:r>
            <a:r>
              <a:rPr lang="en-US" sz="3300" b="1" dirty="0" err="1">
                <a:solidFill>
                  <a:srgbClr val="10844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SN</a:t>
            </a:r>
            <a:r>
              <a:rPr lang="en-US" sz="3300" b="1" dirty="0" err="1">
                <a:solidFill>
                  <a:srgbClr val="F4711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</a:t>
            </a:r>
            <a:r>
              <a:rPr lang="en-US" sz="3300" b="1" dirty="0">
                <a:solidFill>
                  <a:srgbClr val="F4711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  <a:endParaRPr lang="vi-VN" sz="3300" b="1" dirty="0">
              <a:solidFill>
                <a:srgbClr val="F47115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E42CC4B-3691-4BBC-AD83-0FB7800244E1}"/>
              </a:ext>
            </a:extLst>
          </p:cNvPr>
          <p:cNvGrpSpPr/>
          <p:nvPr/>
        </p:nvGrpSpPr>
        <p:grpSpPr>
          <a:xfrm>
            <a:off x="8919443" y="3369392"/>
            <a:ext cx="2667867" cy="2672587"/>
            <a:chOff x="7595468" y="1270306"/>
            <a:chExt cx="2667867" cy="267258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56116B5-8980-46E9-8608-1BA2F6AFF3B5}"/>
                </a:ext>
              </a:extLst>
            </p:cNvPr>
            <p:cNvSpPr/>
            <p:nvPr/>
          </p:nvSpPr>
          <p:spPr>
            <a:xfrm>
              <a:off x="7595468" y="1270306"/>
              <a:ext cx="2667867" cy="2672587"/>
            </a:xfrm>
            <a:prstGeom prst="rect">
              <a:avLst/>
            </a:prstGeom>
            <a:solidFill>
              <a:srgbClr val="EAF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F9DF070B-B061-4227-A742-436951461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78007" y="1504419"/>
              <a:ext cx="360000" cy="360000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FA76290D-25F0-4DE0-AE75-3F432CDFE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778007" y="2737079"/>
              <a:ext cx="360000" cy="360000"/>
            </a:xfrm>
            <a:prstGeom prst="rect">
              <a:avLst/>
            </a:prstGeom>
          </p:spPr>
        </p:pic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2533C592-C63E-416B-AEAD-08E71278F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778007" y="3353408"/>
              <a:ext cx="360000" cy="360000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0C98ABE1-30C9-4EFE-B146-478EC4A81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778007" y="2120749"/>
              <a:ext cx="360000" cy="360000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9D4714A-7761-4F20-96DB-ABFFF8F2BA36}"/>
                </a:ext>
              </a:extLst>
            </p:cNvPr>
            <p:cNvSpPr txBox="1"/>
            <p:nvPr/>
          </p:nvSpPr>
          <p:spPr>
            <a:xfrm>
              <a:off x="8318666" y="1499753"/>
              <a:ext cx="1792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100+ </a:t>
              </a:r>
              <a:r>
                <a:rPr lang="en-US" dirty="0" err="1"/>
                <a:t>Khách</a:t>
              </a:r>
              <a:r>
                <a:rPr lang="en-US" dirty="0"/>
                <a:t> </a:t>
              </a:r>
              <a:r>
                <a:rPr lang="en-US" dirty="0" err="1"/>
                <a:t>hàng</a:t>
              </a:r>
              <a:endParaRPr lang="en-US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679422C-F7F6-4ECD-AD2C-7C781C695272}"/>
                </a:ext>
              </a:extLst>
            </p:cNvPr>
            <p:cNvSpPr txBox="1"/>
            <p:nvPr/>
          </p:nvSpPr>
          <p:spPr>
            <a:xfrm>
              <a:off x="8318666" y="2023750"/>
              <a:ext cx="12715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200+ </a:t>
              </a:r>
              <a:r>
                <a:rPr lang="en-US" dirty="0" err="1"/>
                <a:t>Dự</a:t>
              </a:r>
              <a:r>
                <a:rPr lang="en-US" dirty="0"/>
                <a:t> </a:t>
              </a:r>
              <a:r>
                <a:rPr lang="en-US" dirty="0" err="1"/>
                <a:t>án</a:t>
              </a:r>
              <a:endParaRPr 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7179C7F-C12D-435C-B27A-91436B3A7036}"/>
                </a:ext>
              </a:extLst>
            </p:cNvPr>
            <p:cNvSpPr txBox="1"/>
            <p:nvPr/>
          </p:nvSpPr>
          <p:spPr>
            <a:xfrm>
              <a:off x="8318667" y="2547747"/>
              <a:ext cx="17924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40+ NV, </a:t>
              </a:r>
              <a:r>
                <a:rPr lang="en-US" dirty="0" err="1"/>
                <a:t>Kỹ</a:t>
              </a:r>
              <a:r>
                <a:rPr lang="en-US" dirty="0"/>
                <a:t> </a:t>
              </a:r>
              <a:r>
                <a:rPr lang="en-US" dirty="0" err="1"/>
                <a:t>sư</a:t>
              </a:r>
              <a:r>
                <a:rPr lang="en-US" dirty="0"/>
                <a:t> &amp; 300+ </a:t>
              </a:r>
              <a:r>
                <a:rPr lang="en-US" dirty="0" err="1"/>
                <a:t>Công</a:t>
              </a:r>
              <a:r>
                <a:rPr lang="en-US" dirty="0"/>
                <a:t> </a:t>
              </a:r>
              <a:r>
                <a:rPr lang="en-US" dirty="0" err="1"/>
                <a:t>nhân</a:t>
              </a:r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1743F59-AEE8-4195-84FE-711D3BA0B348}"/>
                </a:ext>
              </a:extLst>
            </p:cNvPr>
            <p:cNvSpPr txBox="1"/>
            <p:nvPr/>
          </p:nvSpPr>
          <p:spPr>
            <a:xfrm>
              <a:off x="8318666" y="3348742"/>
              <a:ext cx="16772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20+ </a:t>
              </a:r>
              <a:r>
                <a:rPr lang="en-US" dirty="0" err="1"/>
                <a:t>Máy</a:t>
              </a:r>
              <a:r>
                <a:rPr lang="en-US" dirty="0"/>
                <a:t> </a:t>
              </a:r>
              <a:r>
                <a:rPr lang="en-US" dirty="0" err="1"/>
                <a:t>cơ</a:t>
              </a:r>
              <a:r>
                <a:rPr lang="en-US" dirty="0"/>
                <a:t> </a:t>
              </a:r>
              <a:r>
                <a:rPr lang="en-US" dirty="0" err="1"/>
                <a:t>giới</a:t>
              </a:r>
              <a:endParaRPr lang="en-US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779258F0-3734-4830-922C-CD6E57D002E0}"/>
              </a:ext>
            </a:extLst>
          </p:cNvPr>
          <p:cNvSpPr/>
          <p:nvPr/>
        </p:nvSpPr>
        <p:spPr>
          <a:xfrm>
            <a:off x="8919442" y="3369125"/>
            <a:ext cx="1329817" cy="1329817"/>
          </a:xfrm>
          <a:prstGeom prst="rect">
            <a:avLst/>
          </a:prstGeom>
          <a:solidFill>
            <a:srgbClr val="F471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US" b="1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HIỆU QUẢ</a:t>
            </a:r>
            <a:endParaRPr lang="vi-VN" b="1" i="0" dirty="0"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vi-VN" sz="1100" b="0" i="1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Tối ưu phương án và nguồn lực cho từng dự án</a:t>
            </a:r>
          </a:p>
          <a:p>
            <a:pPr algn="ctr"/>
            <a:endParaRPr lang="en-US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4BF338-1BA6-4F0C-8382-4D0B01F0D0A3}"/>
              </a:ext>
            </a:extLst>
          </p:cNvPr>
          <p:cNvGrpSpPr/>
          <p:nvPr/>
        </p:nvGrpSpPr>
        <p:grpSpPr>
          <a:xfrm>
            <a:off x="8919442" y="4448892"/>
            <a:ext cx="1329817" cy="1593087"/>
            <a:chOff x="1161183" y="1555750"/>
            <a:chExt cx="1329817" cy="159308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11EE849-EDF5-4FC5-A802-A099B103C596}"/>
                </a:ext>
              </a:extLst>
            </p:cNvPr>
            <p:cNvSpPr/>
            <p:nvPr/>
          </p:nvSpPr>
          <p:spPr>
            <a:xfrm>
              <a:off x="1161183" y="1819020"/>
              <a:ext cx="1329817" cy="13298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252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AN TOÀN</a:t>
              </a:r>
              <a:endParaRPr kumimoji="0" lang="vi-VN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Ưu tiên an toàn, sức khỏe và môi trường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làm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việc</a:t>
              </a:r>
              <a:endParaRPr kumimoji="0" lang="vi-VN" sz="11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4B70B7-BF03-419D-B0AD-A86DB9313861}"/>
                </a:ext>
              </a:extLst>
            </p:cNvPr>
            <p:cNvSpPr/>
            <p:nvPr/>
          </p:nvSpPr>
          <p:spPr>
            <a:xfrm>
              <a:off x="1632588" y="1555750"/>
              <a:ext cx="387006" cy="38700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3198D35-04AE-4F4A-AD28-78FCB7DF3E37}"/>
              </a:ext>
            </a:extLst>
          </p:cNvPr>
          <p:cNvGrpSpPr/>
          <p:nvPr/>
        </p:nvGrpSpPr>
        <p:grpSpPr>
          <a:xfrm>
            <a:off x="9992465" y="4712162"/>
            <a:ext cx="1594844" cy="1329817"/>
            <a:chOff x="2234206" y="1819020"/>
            <a:chExt cx="1594844" cy="132981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725286-2E50-4560-869D-EDE33A837499}"/>
                </a:ext>
              </a:extLst>
            </p:cNvPr>
            <p:cNvSpPr/>
            <p:nvPr/>
          </p:nvSpPr>
          <p:spPr>
            <a:xfrm>
              <a:off x="2499233" y="1819020"/>
              <a:ext cx="1329817" cy="1329817"/>
            </a:xfrm>
            <a:prstGeom prst="rect">
              <a:avLst/>
            </a:prstGeom>
            <a:solidFill>
              <a:srgbClr val="108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288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CHẤT LƯỢNG</a:t>
              </a:r>
              <a:endParaRPr kumimoji="0" lang="vi-VN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Tuân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thủ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quy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trình</a:t>
              </a:r>
              <a:r>
                <a:rPr lang="en-US" sz="1100" i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tiêu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chuẩn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kỹ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thuật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ISO</a:t>
              </a:r>
              <a:endParaRPr kumimoji="0" lang="vi-VN" sz="11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3ED421-FCCB-402C-882D-6EDCE4DA15C1}"/>
                </a:ext>
              </a:extLst>
            </p:cNvPr>
            <p:cNvSpPr/>
            <p:nvPr/>
          </p:nvSpPr>
          <p:spPr>
            <a:xfrm>
              <a:off x="2234206" y="2290425"/>
              <a:ext cx="387006" cy="387006"/>
            </a:xfrm>
            <a:prstGeom prst="ellipse">
              <a:avLst/>
            </a:prstGeom>
            <a:solidFill>
              <a:srgbClr val="108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0E8D29E-AF25-42B8-A084-56B9FAAA7C7A}"/>
              </a:ext>
            </a:extLst>
          </p:cNvPr>
          <p:cNvGrpSpPr/>
          <p:nvPr/>
        </p:nvGrpSpPr>
        <p:grpSpPr>
          <a:xfrm>
            <a:off x="10257492" y="3369392"/>
            <a:ext cx="1329817" cy="1586612"/>
            <a:chOff x="2499233" y="476250"/>
            <a:chExt cx="1329817" cy="158661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17DF0DE-E757-461B-9408-86823297B358}"/>
                </a:ext>
              </a:extLst>
            </p:cNvPr>
            <p:cNvSpPr/>
            <p:nvPr/>
          </p:nvSpPr>
          <p:spPr>
            <a:xfrm>
              <a:off x="2962405" y="1675856"/>
              <a:ext cx="387006" cy="38700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A51E30-9FCB-434F-B60F-431415003C03}"/>
                </a:ext>
              </a:extLst>
            </p:cNvPr>
            <p:cNvSpPr/>
            <p:nvPr/>
          </p:nvSpPr>
          <p:spPr>
            <a:xfrm>
              <a:off x="2499233" y="476250"/>
              <a:ext cx="1329817" cy="132981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8000" t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TIẾN ĐỘ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Bám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sát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kế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hoạch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,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phối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hợp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linh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 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hoạt</a:t>
              </a:r>
              <a:endParaRPr kumimoji="0" lang="vi-VN" sz="11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49DE5511-F7BC-4E66-A59A-6A62A4B0C4BC}"/>
              </a:ext>
            </a:extLst>
          </p:cNvPr>
          <p:cNvSpPr/>
          <p:nvPr/>
        </p:nvSpPr>
        <p:spPr>
          <a:xfrm>
            <a:off x="10119048" y="3840797"/>
            <a:ext cx="387006" cy="387006"/>
          </a:xfrm>
          <a:prstGeom prst="ellipse">
            <a:avLst/>
          </a:prstGeom>
          <a:solidFill>
            <a:srgbClr val="F471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E2ED52F1-9DCB-4E8A-9D0C-A679A3EA93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5" y="1335358"/>
            <a:ext cx="3781606" cy="2127153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DD418280-9616-4F99-A029-10A91B28436D}"/>
              </a:ext>
            </a:extLst>
          </p:cNvPr>
          <p:cNvGrpSpPr/>
          <p:nvPr/>
        </p:nvGrpSpPr>
        <p:grpSpPr>
          <a:xfrm>
            <a:off x="4088333" y="1544903"/>
            <a:ext cx="4981460" cy="1662270"/>
            <a:chOff x="6096000" y="4470234"/>
            <a:chExt cx="5583509" cy="186316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0AB0A89-18D5-40D8-8520-8DBD9882D37F}"/>
                </a:ext>
              </a:extLst>
            </p:cNvPr>
            <p:cNvSpPr txBox="1"/>
            <p:nvPr/>
          </p:nvSpPr>
          <p:spPr>
            <a:xfrm>
              <a:off x="6433116" y="4470234"/>
              <a:ext cx="5246393" cy="6554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VP-2-09, </a:t>
              </a:r>
              <a:r>
                <a:rPr lang="en-US" sz="1600" dirty="0" err="1">
                  <a:solidFill>
                    <a:schemeClr val="bg1"/>
                  </a:solidFill>
                </a:rPr>
                <a:t>Lầu</a:t>
              </a:r>
              <a:r>
                <a:rPr lang="en-US" sz="1600" dirty="0">
                  <a:solidFill>
                    <a:schemeClr val="bg1"/>
                  </a:solidFill>
                </a:rPr>
                <a:t> 2, </a:t>
              </a:r>
              <a:r>
                <a:rPr lang="en-US" sz="1600" dirty="0" err="1">
                  <a:solidFill>
                    <a:schemeClr val="bg1"/>
                  </a:solidFill>
                </a:rPr>
                <a:t>Tòa</a:t>
              </a:r>
              <a:r>
                <a:rPr lang="en-US" sz="1600" dirty="0">
                  <a:solidFill>
                    <a:schemeClr val="bg1"/>
                  </a:solidFill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</a:rPr>
                <a:t>nhà</a:t>
              </a:r>
              <a:r>
                <a:rPr lang="en-US" sz="1600" dirty="0">
                  <a:solidFill>
                    <a:schemeClr val="bg1"/>
                  </a:solidFill>
                </a:rPr>
                <a:t> St. Moritz</a:t>
              </a:r>
            </a:p>
            <a:p>
              <a:r>
                <a:rPr lang="en-US" sz="1600" dirty="0" err="1">
                  <a:solidFill>
                    <a:schemeClr val="bg1"/>
                  </a:solidFill>
                </a:rPr>
                <a:t>Số</a:t>
              </a:r>
              <a:r>
                <a:rPr lang="en-US" sz="1600" dirty="0">
                  <a:solidFill>
                    <a:schemeClr val="bg1"/>
                  </a:solidFill>
                </a:rPr>
                <a:t> 1014 </a:t>
              </a:r>
              <a:r>
                <a:rPr lang="en-US" sz="1600" dirty="0" err="1">
                  <a:solidFill>
                    <a:schemeClr val="bg1"/>
                  </a:solidFill>
                </a:rPr>
                <a:t>Phạm</a:t>
              </a:r>
              <a:r>
                <a:rPr lang="en-US" sz="1600" dirty="0">
                  <a:solidFill>
                    <a:schemeClr val="bg1"/>
                  </a:solidFill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</a:rPr>
                <a:t>Văn</a:t>
              </a:r>
              <a:r>
                <a:rPr lang="en-US" sz="1600" dirty="0">
                  <a:solidFill>
                    <a:schemeClr val="bg1"/>
                  </a:solidFill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</a:rPr>
                <a:t>Đồng</a:t>
              </a:r>
              <a:r>
                <a:rPr lang="en-US" sz="1600" dirty="0">
                  <a:solidFill>
                    <a:schemeClr val="bg1"/>
                  </a:solidFill>
                </a:rPr>
                <a:t>, P. </a:t>
              </a:r>
              <a:r>
                <a:rPr lang="en-US" sz="1600" dirty="0" err="1">
                  <a:solidFill>
                    <a:schemeClr val="bg1"/>
                  </a:solidFill>
                </a:rPr>
                <a:t>Hiệp</a:t>
              </a:r>
              <a:r>
                <a:rPr lang="en-US" sz="1600" dirty="0">
                  <a:solidFill>
                    <a:schemeClr val="bg1"/>
                  </a:solidFill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</a:rPr>
                <a:t>Bình</a:t>
              </a:r>
              <a:r>
                <a:rPr lang="en-US" sz="1600" dirty="0">
                  <a:solidFill>
                    <a:schemeClr val="bg1"/>
                  </a:solidFill>
                </a:rPr>
                <a:t>, TP. </a:t>
              </a:r>
              <a:r>
                <a:rPr lang="en-US" sz="1600" dirty="0" err="1">
                  <a:solidFill>
                    <a:schemeClr val="bg1"/>
                  </a:solidFill>
                </a:rPr>
                <a:t>Hồ</a:t>
              </a:r>
              <a:r>
                <a:rPr lang="en-US" sz="1600" dirty="0">
                  <a:solidFill>
                    <a:schemeClr val="bg1"/>
                  </a:solidFill>
                </a:rPr>
                <a:t> </a:t>
              </a:r>
              <a:r>
                <a:rPr lang="en-US" sz="1600" dirty="0" err="1">
                  <a:solidFill>
                    <a:schemeClr val="bg1"/>
                  </a:solidFill>
                </a:rPr>
                <a:t>Chí</a:t>
              </a:r>
              <a:r>
                <a:rPr lang="en-US" sz="1600" dirty="0">
                  <a:solidFill>
                    <a:schemeClr val="bg1"/>
                  </a:solidFill>
                </a:rPr>
                <a:t> Minh</a:t>
              </a: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BAF613BC-C9B6-4E48-B876-8723160E5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096000" y="5994597"/>
              <a:ext cx="288000" cy="288000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33BBC624-DC87-4E98-9F0E-44B2CEDFA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096000" y="5592365"/>
              <a:ext cx="288000" cy="288000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8C708AAD-E5BE-419C-9313-64137D9D6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096000" y="5190132"/>
              <a:ext cx="288000" cy="288000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DE082117-3ED0-45D8-8399-9E806E556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096000" y="4529936"/>
              <a:ext cx="288000" cy="288000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955B901-6253-46EB-B958-B107C440AE1A}"/>
                </a:ext>
              </a:extLst>
            </p:cNvPr>
            <p:cNvSpPr txBox="1"/>
            <p:nvPr/>
          </p:nvSpPr>
          <p:spPr>
            <a:xfrm>
              <a:off x="6433116" y="5953931"/>
              <a:ext cx="2688557" cy="3794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songngoc.com.vn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D53F105-9194-4FEA-8837-6011EAC0E562}"/>
                </a:ext>
              </a:extLst>
            </p:cNvPr>
            <p:cNvSpPr txBox="1"/>
            <p:nvPr/>
          </p:nvSpPr>
          <p:spPr>
            <a:xfrm>
              <a:off x="6433116" y="5551699"/>
              <a:ext cx="3341393" cy="3794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songngoc@sncc.vn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DB408D2-822C-4FC7-B6BE-0875EAD163E1}"/>
                </a:ext>
              </a:extLst>
            </p:cNvPr>
            <p:cNvSpPr txBox="1"/>
            <p:nvPr/>
          </p:nvSpPr>
          <p:spPr>
            <a:xfrm>
              <a:off x="6433116" y="5149466"/>
              <a:ext cx="3273660" cy="3794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(+84) 086 893 7699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841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67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67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67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67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567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067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video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20" grpId="0" animBg="1"/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373</Words>
  <Application>Microsoft Office PowerPoint</Application>
  <PresentationFormat>Widescreen</PresentationFormat>
  <Paragraphs>22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Phung Hoang</dc:creator>
  <cp:lastModifiedBy>Phung Hoang</cp:lastModifiedBy>
  <cp:revision>48</cp:revision>
  <dcterms:created xsi:type="dcterms:W3CDTF">2026-07-13T15:16:53Z</dcterms:created>
  <dcterms:modified xsi:type="dcterms:W3CDTF">2026-07-17T20:50:59Z</dcterms:modified>
</cp:coreProperties>
</file>